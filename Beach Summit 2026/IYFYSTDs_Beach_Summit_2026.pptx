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96" d="100"/>
          <a:sy n="196" d="100"/>
        </p:scale>
        <p:origin x="130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9294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Yearn For Your Sweet TD's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1B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 Summit 2026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the 2025 season  ·  keeper costs for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93392"/>
            <a:ext cx="146304" cy="146304"/>
          </a:xfrm>
          <a:prstGeom prst="ellipse">
            <a:avLst/>
          </a:prstGeom>
          <a:solidFill>
            <a:srgbClr val="E1B5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season in review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final standings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8229600" cy="310896"/>
          </a:xfrm>
          <a:prstGeom prst="rect">
            <a:avLst/>
          </a:prstGeom>
          <a:solidFill>
            <a:srgbClr val="022479"/>
          </a:solidFill>
          <a:ln w="12700">
            <a:solidFill>
              <a:srgbClr val="0224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02412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225296" y="102412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108960" y="10241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577840" y="10241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W-L-T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0" y="10241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635240" y="102412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335024"/>
            <a:ext cx="8229600" cy="288036"/>
          </a:xfrm>
          <a:prstGeom prst="rect">
            <a:avLst/>
          </a:prstGeom>
          <a:solidFill>
            <a:srgbClr val="FBF0CF"/>
          </a:solidFill>
          <a:ln w="12700">
            <a:solidFill>
              <a:srgbClr val="FBF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335024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25296" y="1335024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Brian Malconian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1335024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Of The Castle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577840" y="1335024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11-3-0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0" y="1335024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2430.7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635240" y="1335024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1953.2</a:t>
            </a:r>
            <a:endParaRPr lang="en-US" sz="1000" dirty="0"/>
          </a:p>
        </p:txBody>
      </p:sp>
      <p:pic>
        <p:nvPicPr>
          <p:cNvPr id="17" name="Image 0" descr="/sessions/gifted-ecstatic-mccarthy/mnt/outputs/icons/medal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69314"/>
            <a:ext cx="219456" cy="219456"/>
          </a:xfrm>
          <a:prstGeom prst="rect">
            <a:avLst/>
          </a:prstGeom>
        </p:spPr>
      </p:pic>
      <p:pic>
        <p:nvPicPr>
          <p:cNvPr id="18" name="Image 1" descr="/sessions/gifted-ecstatic-mccarthy/mnt/outputs/icons/cr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378458"/>
            <a:ext cx="237744" cy="20116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57200" y="1623060"/>
            <a:ext cx="8229600" cy="2880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502920" y="1623060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1225296" y="1623060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Lewis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108960" y="1623060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Briguy’s Strange Boutte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5577840" y="1623060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9-5-0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583680" y="1623060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1978.0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7635240" y="1623060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1833.7</a:t>
            </a:r>
            <a:endParaRPr lang="en-US" sz="1000" dirty="0"/>
          </a:p>
        </p:txBody>
      </p:sp>
      <p:pic>
        <p:nvPicPr>
          <p:cNvPr id="26" name="Image 2" descr="/sessions/gifted-ecstatic-mccarthy/mnt/outputs/icons/medal_sil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1657350"/>
            <a:ext cx="219456" cy="219456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457200" y="1911096"/>
            <a:ext cx="8229600" cy="288036"/>
          </a:xfrm>
          <a:prstGeom prst="rect">
            <a:avLst/>
          </a:prstGeom>
          <a:solidFill>
            <a:srgbClr val="F1F5FC"/>
          </a:solidFill>
          <a:ln w="12700">
            <a:solidFill>
              <a:srgbClr val="F1F5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3"/>
          <p:cNvSpPr/>
          <p:nvPr/>
        </p:nvSpPr>
        <p:spPr>
          <a:xfrm>
            <a:off x="502920" y="1911096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1225296" y="1911096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 Pearson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3108960" y="1911096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McGibblets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77840" y="1911096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10-4-0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6583680" y="1911096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1968.9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7635240" y="1911096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1694.7</a:t>
            </a:r>
            <a:endParaRPr lang="en-US" sz="1000" dirty="0"/>
          </a:p>
        </p:txBody>
      </p:sp>
      <p:pic>
        <p:nvPicPr>
          <p:cNvPr id="34" name="Image 3" descr="/sessions/gifted-ecstatic-mccarthy/mnt/outputs/icons/medal_bronz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1945386"/>
            <a:ext cx="219456" cy="219456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457200" y="2199132"/>
            <a:ext cx="8229600" cy="2880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/>
          <p:nvPr/>
        </p:nvSpPr>
        <p:spPr>
          <a:xfrm>
            <a:off x="502920" y="2199132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1225296" y="2199132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Watson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3108960" y="2199132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of Darkness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77840" y="2199132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8-6-0</a:t>
            </a:r>
            <a:endParaRPr lang="en-US" sz="1000" dirty="0"/>
          </a:p>
        </p:txBody>
      </p:sp>
      <p:sp>
        <p:nvSpPr>
          <p:cNvPr id="40" name="Text 34"/>
          <p:cNvSpPr/>
          <p:nvPr/>
        </p:nvSpPr>
        <p:spPr>
          <a:xfrm>
            <a:off x="6583680" y="2199132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1975.0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7635240" y="2199132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1910.9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457200" y="2487168"/>
            <a:ext cx="8229600" cy="288036"/>
          </a:xfrm>
          <a:prstGeom prst="rect">
            <a:avLst/>
          </a:prstGeom>
          <a:solidFill>
            <a:srgbClr val="F1F5FC"/>
          </a:solidFill>
          <a:ln w="12700">
            <a:solidFill>
              <a:srgbClr val="F1F5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7"/>
          <p:cNvSpPr/>
          <p:nvPr/>
        </p:nvSpPr>
        <p:spPr>
          <a:xfrm>
            <a:off x="502920" y="2487168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1225296" y="2487168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Schlosberg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3108960" y="2487168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Vesco’s banging bathroom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5577840" y="2487168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6-8-0</a:t>
            </a:r>
            <a:endParaRPr lang="en-US" sz="1000" dirty="0"/>
          </a:p>
        </p:txBody>
      </p:sp>
      <p:sp>
        <p:nvSpPr>
          <p:cNvPr id="47" name="Text 41"/>
          <p:cNvSpPr/>
          <p:nvPr/>
        </p:nvSpPr>
        <p:spPr>
          <a:xfrm>
            <a:off x="6583680" y="2487168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1978.9</a:t>
            </a:r>
            <a:endParaRPr lang="en-US" sz="1000" dirty="0"/>
          </a:p>
        </p:txBody>
      </p:sp>
      <p:sp>
        <p:nvSpPr>
          <p:cNvPr id="48" name="Text 42"/>
          <p:cNvSpPr/>
          <p:nvPr/>
        </p:nvSpPr>
        <p:spPr>
          <a:xfrm>
            <a:off x="7635240" y="2487168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1955.9</a:t>
            </a:r>
            <a:endParaRPr lang="en-US" sz="1000" dirty="0"/>
          </a:p>
        </p:txBody>
      </p:sp>
      <p:sp>
        <p:nvSpPr>
          <p:cNvPr id="49" name="Shape 43"/>
          <p:cNvSpPr/>
          <p:nvPr/>
        </p:nvSpPr>
        <p:spPr>
          <a:xfrm>
            <a:off x="457200" y="2775204"/>
            <a:ext cx="8229600" cy="2880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4"/>
          <p:cNvSpPr/>
          <p:nvPr/>
        </p:nvSpPr>
        <p:spPr>
          <a:xfrm>
            <a:off x="502920" y="2775204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5"/>
          <p:cNvSpPr/>
          <p:nvPr/>
        </p:nvSpPr>
        <p:spPr>
          <a:xfrm>
            <a:off x="1225296" y="2775204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MacNulty</a:t>
            </a:r>
            <a:endParaRPr lang="en-US" sz="1000" dirty="0"/>
          </a:p>
        </p:txBody>
      </p:sp>
      <p:sp>
        <p:nvSpPr>
          <p:cNvPr id="52" name="Text 46"/>
          <p:cNvSpPr/>
          <p:nvPr/>
        </p:nvSpPr>
        <p:spPr>
          <a:xfrm>
            <a:off x="3108960" y="2775204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TheDarkKnight06</a:t>
            </a:r>
            <a:endParaRPr lang="en-US" sz="1000" dirty="0"/>
          </a:p>
        </p:txBody>
      </p:sp>
      <p:sp>
        <p:nvSpPr>
          <p:cNvPr id="53" name="Text 47"/>
          <p:cNvSpPr/>
          <p:nvPr/>
        </p:nvSpPr>
        <p:spPr>
          <a:xfrm>
            <a:off x="5577840" y="2775204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9-5-0</a:t>
            </a:r>
            <a:endParaRPr lang="en-US" sz="1000" dirty="0"/>
          </a:p>
        </p:txBody>
      </p:sp>
      <p:sp>
        <p:nvSpPr>
          <p:cNvPr id="54" name="Text 48"/>
          <p:cNvSpPr/>
          <p:nvPr/>
        </p:nvSpPr>
        <p:spPr>
          <a:xfrm>
            <a:off x="6583680" y="2775204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1812.7</a:t>
            </a:r>
            <a:endParaRPr lang="en-US" sz="1000" dirty="0"/>
          </a:p>
        </p:txBody>
      </p:sp>
      <p:sp>
        <p:nvSpPr>
          <p:cNvPr id="55" name="Text 49"/>
          <p:cNvSpPr/>
          <p:nvPr/>
        </p:nvSpPr>
        <p:spPr>
          <a:xfrm>
            <a:off x="7635240" y="2775204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1773.0</a:t>
            </a:r>
            <a:endParaRPr lang="en-US" sz="1000" dirty="0"/>
          </a:p>
        </p:txBody>
      </p:sp>
      <p:sp>
        <p:nvSpPr>
          <p:cNvPr id="56" name="Shape 50"/>
          <p:cNvSpPr/>
          <p:nvPr/>
        </p:nvSpPr>
        <p:spPr>
          <a:xfrm>
            <a:off x="457200" y="3063240"/>
            <a:ext cx="8229600" cy="288036"/>
          </a:xfrm>
          <a:prstGeom prst="rect">
            <a:avLst/>
          </a:prstGeom>
          <a:solidFill>
            <a:srgbClr val="F1F5FC"/>
          </a:solidFill>
          <a:ln w="12700">
            <a:solidFill>
              <a:srgbClr val="F1F5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1"/>
          <p:cNvSpPr/>
          <p:nvPr/>
        </p:nvSpPr>
        <p:spPr>
          <a:xfrm>
            <a:off x="502920" y="3063240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8" name="Text 52"/>
          <p:cNvSpPr/>
          <p:nvPr/>
        </p:nvSpPr>
        <p:spPr>
          <a:xfrm>
            <a:off x="1225296" y="3063240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Vescuso</a:t>
            </a:r>
            <a:endParaRPr lang="en-US" sz="1000" dirty="0"/>
          </a:p>
        </p:txBody>
      </p:sp>
      <p:sp>
        <p:nvSpPr>
          <p:cNvPr id="59" name="Text 53"/>
          <p:cNvSpPr/>
          <p:nvPr/>
        </p:nvSpPr>
        <p:spPr>
          <a:xfrm>
            <a:off x="3108960" y="3063240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the Peel</a:t>
            </a:r>
            <a:endParaRPr lang="en-US" sz="1000" dirty="0"/>
          </a:p>
        </p:txBody>
      </p:sp>
      <p:sp>
        <p:nvSpPr>
          <p:cNvPr id="60" name="Text 54"/>
          <p:cNvSpPr/>
          <p:nvPr/>
        </p:nvSpPr>
        <p:spPr>
          <a:xfrm>
            <a:off x="5577840" y="3063240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7-7-0</a:t>
            </a:r>
            <a:endParaRPr lang="en-US" sz="1000" dirty="0"/>
          </a:p>
        </p:txBody>
      </p:sp>
      <p:sp>
        <p:nvSpPr>
          <p:cNvPr id="61" name="Text 55"/>
          <p:cNvSpPr/>
          <p:nvPr/>
        </p:nvSpPr>
        <p:spPr>
          <a:xfrm>
            <a:off x="6583680" y="3063240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1773.2</a:t>
            </a:r>
            <a:endParaRPr lang="en-US" sz="1000" dirty="0"/>
          </a:p>
        </p:txBody>
      </p:sp>
      <p:sp>
        <p:nvSpPr>
          <p:cNvPr id="62" name="Text 56"/>
          <p:cNvSpPr/>
          <p:nvPr/>
        </p:nvSpPr>
        <p:spPr>
          <a:xfrm>
            <a:off x="7635240" y="3063240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1955.1</a:t>
            </a:r>
            <a:endParaRPr lang="en-US" sz="1000" dirty="0"/>
          </a:p>
        </p:txBody>
      </p:sp>
      <p:pic>
        <p:nvPicPr>
          <p:cNvPr id="63" name="Image 4" descr="/sessions/gifted-ecstatic-mccarthy/mnt/outputs/icons/rock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3097530"/>
            <a:ext cx="219456" cy="219456"/>
          </a:xfrm>
          <a:prstGeom prst="rect">
            <a:avLst/>
          </a:prstGeom>
        </p:spPr>
      </p:pic>
      <p:sp>
        <p:nvSpPr>
          <p:cNvPr id="64" name="Shape 57"/>
          <p:cNvSpPr/>
          <p:nvPr/>
        </p:nvSpPr>
        <p:spPr>
          <a:xfrm>
            <a:off x="457200" y="3351276"/>
            <a:ext cx="8229600" cy="2880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58"/>
          <p:cNvSpPr/>
          <p:nvPr/>
        </p:nvSpPr>
        <p:spPr>
          <a:xfrm>
            <a:off x="502920" y="3351276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6" name="Text 59"/>
          <p:cNvSpPr/>
          <p:nvPr/>
        </p:nvSpPr>
        <p:spPr>
          <a:xfrm>
            <a:off x="1225296" y="3351276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TBD</a:t>
            </a:r>
            <a:endParaRPr lang="en-US" sz="1000" dirty="0"/>
          </a:p>
        </p:txBody>
      </p:sp>
      <p:sp>
        <p:nvSpPr>
          <p:cNvPr id="67" name="Text 60"/>
          <p:cNvSpPr/>
          <p:nvPr/>
        </p:nvSpPr>
        <p:spPr>
          <a:xfrm>
            <a:off x="3108960" y="3351276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Lady Boys</a:t>
            </a:r>
            <a:endParaRPr lang="en-US" sz="1000" dirty="0"/>
          </a:p>
        </p:txBody>
      </p:sp>
      <p:sp>
        <p:nvSpPr>
          <p:cNvPr id="68" name="Text 61"/>
          <p:cNvSpPr/>
          <p:nvPr/>
        </p:nvSpPr>
        <p:spPr>
          <a:xfrm>
            <a:off x="5577840" y="3351276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5-9-0</a:t>
            </a:r>
            <a:endParaRPr lang="en-US" sz="1000" dirty="0"/>
          </a:p>
        </p:txBody>
      </p:sp>
      <p:sp>
        <p:nvSpPr>
          <p:cNvPr id="69" name="Text 62"/>
          <p:cNvSpPr/>
          <p:nvPr/>
        </p:nvSpPr>
        <p:spPr>
          <a:xfrm>
            <a:off x="6583680" y="3351276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1795.6</a:t>
            </a:r>
            <a:endParaRPr lang="en-US" sz="1000" dirty="0"/>
          </a:p>
        </p:txBody>
      </p:sp>
      <p:sp>
        <p:nvSpPr>
          <p:cNvPr id="70" name="Text 63"/>
          <p:cNvSpPr/>
          <p:nvPr/>
        </p:nvSpPr>
        <p:spPr>
          <a:xfrm>
            <a:off x="7635240" y="3351276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1863.0</a:t>
            </a:r>
            <a:endParaRPr lang="en-US" sz="1000" dirty="0"/>
          </a:p>
        </p:txBody>
      </p:sp>
      <p:sp>
        <p:nvSpPr>
          <p:cNvPr id="71" name="Shape 64"/>
          <p:cNvSpPr/>
          <p:nvPr/>
        </p:nvSpPr>
        <p:spPr>
          <a:xfrm>
            <a:off x="457200" y="3639312"/>
            <a:ext cx="8229600" cy="288036"/>
          </a:xfrm>
          <a:prstGeom prst="rect">
            <a:avLst/>
          </a:prstGeom>
          <a:solidFill>
            <a:srgbClr val="F1F5FC"/>
          </a:solidFill>
          <a:ln w="12700">
            <a:solidFill>
              <a:srgbClr val="F1F5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65"/>
          <p:cNvSpPr/>
          <p:nvPr/>
        </p:nvSpPr>
        <p:spPr>
          <a:xfrm>
            <a:off x="502920" y="3639312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3" name="Text 66"/>
          <p:cNvSpPr/>
          <p:nvPr/>
        </p:nvSpPr>
        <p:spPr>
          <a:xfrm>
            <a:off x="1225296" y="3639312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George Mensing</a:t>
            </a:r>
            <a:endParaRPr lang="en-US" sz="1000" dirty="0"/>
          </a:p>
        </p:txBody>
      </p:sp>
      <p:sp>
        <p:nvSpPr>
          <p:cNvPr id="74" name="Text 67"/>
          <p:cNvSpPr/>
          <p:nvPr/>
        </p:nvSpPr>
        <p:spPr>
          <a:xfrm>
            <a:off x="3108960" y="3639312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Dreorge Bledsoe</a:t>
            </a:r>
            <a:endParaRPr lang="en-US" sz="1000" dirty="0"/>
          </a:p>
        </p:txBody>
      </p:sp>
      <p:sp>
        <p:nvSpPr>
          <p:cNvPr id="75" name="Text 68"/>
          <p:cNvSpPr/>
          <p:nvPr/>
        </p:nvSpPr>
        <p:spPr>
          <a:xfrm>
            <a:off x="5577840" y="3639312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6-8-0</a:t>
            </a:r>
            <a:endParaRPr lang="en-US" sz="1000" dirty="0"/>
          </a:p>
        </p:txBody>
      </p:sp>
      <p:sp>
        <p:nvSpPr>
          <p:cNvPr id="76" name="Text 69"/>
          <p:cNvSpPr/>
          <p:nvPr/>
        </p:nvSpPr>
        <p:spPr>
          <a:xfrm>
            <a:off x="6583680" y="3639312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1967.2</a:t>
            </a:r>
            <a:endParaRPr lang="en-US" sz="1000" dirty="0"/>
          </a:p>
        </p:txBody>
      </p:sp>
      <p:sp>
        <p:nvSpPr>
          <p:cNvPr id="77" name="Text 70"/>
          <p:cNvSpPr/>
          <p:nvPr/>
        </p:nvSpPr>
        <p:spPr>
          <a:xfrm>
            <a:off x="7635240" y="3639312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1972.7</a:t>
            </a:r>
            <a:endParaRPr lang="en-US" sz="1000" dirty="0"/>
          </a:p>
        </p:txBody>
      </p:sp>
      <p:sp>
        <p:nvSpPr>
          <p:cNvPr id="78" name="Shape 71"/>
          <p:cNvSpPr/>
          <p:nvPr/>
        </p:nvSpPr>
        <p:spPr>
          <a:xfrm>
            <a:off x="457200" y="3927348"/>
            <a:ext cx="8229600" cy="2880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2"/>
          <p:cNvSpPr/>
          <p:nvPr/>
        </p:nvSpPr>
        <p:spPr>
          <a:xfrm>
            <a:off x="502920" y="3927348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0" name="Text 73"/>
          <p:cNvSpPr/>
          <p:nvPr/>
        </p:nvSpPr>
        <p:spPr>
          <a:xfrm>
            <a:off x="1225296" y="3927348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Scott Montgomery</a:t>
            </a:r>
            <a:endParaRPr lang="en-US" sz="1000" dirty="0"/>
          </a:p>
        </p:txBody>
      </p:sp>
      <p:sp>
        <p:nvSpPr>
          <p:cNvPr id="81" name="Text 74"/>
          <p:cNvSpPr/>
          <p:nvPr/>
        </p:nvSpPr>
        <p:spPr>
          <a:xfrm>
            <a:off x="3108960" y="3927348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THE TUA US</a:t>
            </a:r>
            <a:endParaRPr lang="en-US" sz="1000" dirty="0"/>
          </a:p>
        </p:txBody>
      </p:sp>
      <p:sp>
        <p:nvSpPr>
          <p:cNvPr id="82" name="Text 75"/>
          <p:cNvSpPr/>
          <p:nvPr/>
        </p:nvSpPr>
        <p:spPr>
          <a:xfrm>
            <a:off x="5577840" y="3927348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4-10-0</a:t>
            </a:r>
            <a:endParaRPr lang="en-US" sz="1000" dirty="0"/>
          </a:p>
        </p:txBody>
      </p:sp>
      <p:sp>
        <p:nvSpPr>
          <p:cNvPr id="83" name="Text 76"/>
          <p:cNvSpPr/>
          <p:nvPr/>
        </p:nvSpPr>
        <p:spPr>
          <a:xfrm>
            <a:off x="6583680" y="3927348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1674.4</a:t>
            </a:r>
            <a:endParaRPr lang="en-US" sz="1000" dirty="0"/>
          </a:p>
        </p:txBody>
      </p:sp>
      <p:sp>
        <p:nvSpPr>
          <p:cNvPr id="84" name="Text 77"/>
          <p:cNvSpPr/>
          <p:nvPr/>
        </p:nvSpPr>
        <p:spPr>
          <a:xfrm>
            <a:off x="7635240" y="3927348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2031.2</a:t>
            </a:r>
            <a:endParaRPr lang="en-US" sz="1000" dirty="0"/>
          </a:p>
        </p:txBody>
      </p:sp>
      <p:sp>
        <p:nvSpPr>
          <p:cNvPr id="85" name="Shape 78"/>
          <p:cNvSpPr/>
          <p:nvPr/>
        </p:nvSpPr>
        <p:spPr>
          <a:xfrm>
            <a:off x="457200" y="4215384"/>
            <a:ext cx="8229600" cy="288036"/>
          </a:xfrm>
          <a:prstGeom prst="rect">
            <a:avLst/>
          </a:prstGeom>
          <a:solidFill>
            <a:srgbClr val="F1F5FC"/>
          </a:solidFill>
          <a:ln w="12700">
            <a:solidFill>
              <a:srgbClr val="F1F5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9"/>
          <p:cNvSpPr/>
          <p:nvPr/>
        </p:nvSpPr>
        <p:spPr>
          <a:xfrm>
            <a:off x="502920" y="4215384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87" name="Text 80"/>
          <p:cNvSpPr/>
          <p:nvPr/>
        </p:nvSpPr>
        <p:spPr>
          <a:xfrm>
            <a:off x="1225296" y="4215384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Aric Tao</a:t>
            </a:r>
            <a:endParaRPr lang="en-US" sz="1000" dirty="0"/>
          </a:p>
        </p:txBody>
      </p:sp>
      <p:sp>
        <p:nvSpPr>
          <p:cNvPr id="88" name="Text 81"/>
          <p:cNvSpPr/>
          <p:nvPr/>
        </p:nvSpPr>
        <p:spPr>
          <a:xfrm>
            <a:off x="3108960" y="4215384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Priest Gabagool</a:t>
            </a:r>
            <a:endParaRPr lang="en-US" sz="1000" dirty="0"/>
          </a:p>
        </p:txBody>
      </p:sp>
      <p:sp>
        <p:nvSpPr>
          <p:cNvPr id="89" name="Text 82"/>
          <p:cNvSpPr/>
          <p:nvPr/>
        </p:nvSpPr>
        <p:spPr>
          <a:xfrm>
            <a:off x="5577840" y="4215384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4-10-0</a:t>
            </a:r>
            <a:endParaRPr lang="en-US" sz="1000" dirty="0"/>
          </a:p>
        </p:txBody>
      </p:sp>
      <p:sp>
        <p:nvSpPr>
          <p:cNvPr id="90" name="Text 83"/>
          <p:cNvSpPr/>
          <p:nvPr/>
        </p:nvSpPr>
        <p:spPr>
          <a:xfrm>
            <a:off x="6583680" y="4215384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1620.5</a:t>
            </a:r>
            <a:endParaRPr lang="en-US" sz="1000" dirty="0"/>
          </a:p>
        </p:txBody>
      </p:sp>
      <p:sp>
        <p:nvSpPr>
          <p:cNvPr id="91" name="Text 84"/>
          <p:cNvSpPr/>
          <p:nvPr/>
        </p:nvSpPr>
        <p:spPr>
          <a:xfrm>
            <a:off x="7635240" y="4215384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1913.6</a:t>
            </a:r>
            <a:endParaRPr lang="en-US" sz="1000" dirty="0"/>
          </a:p>
        </p:txBody>
      </p:sp>
      <p:sp>
        <p:nvSpPr>
          <p:cNvPr id="92" name="Shape 85"/>
          <p:cNvSpPr/>
          <p:nvPr/>
        </p:nvSpPr>
        <p:spPr>
          <a:xfrm>
            <a:off x="457200" y="4503420"/>
            <a:ext cx="8229600" cy="2880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86"/>
          <p:cNvSpPr/>
          <p:nvPr/>
        </p:nvSpPr>
        <p:spPr>
          <a:xfrm>
            <a:off x="502920" y="4503420"/>
            <a:ext cx="3657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94" name="Text 87"/>
          <p:cNvSpPr/>
          <p:nvPr/>
        </p:nvSpPr>
        <p:spPr>
          <a:xfrm>
            <a:off x="1225296" y="4503420"/>
            <a:ext cx="17830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 Hodor</a:t>
            </a:r>
            <a:endParaRPr lang="en-US" sz="1000" dirty="0"/>
          </a:p>
        </p:txBody>
      </p:sp>
      <p:sp>
        <p:nvSpPr>
          <p:cNvPr id="95" name="Text 88"/>
          <p:cNvSpPr/>
          <p:nvPr/>
        </p:nvSpPr>
        <p:spPr>
          <a:xfrm>
            <a:off x="3108960" y="4503420"/>
            <a:ext cx="23774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Bonita Fish Big?</a:t>
            </a:r>
            <a:endParaRPr lang="en-US" sz="1000" dirty="0"/>
          </a:p>
        </p:txBody>
      </p:sp>
      <p:sp>
        <p:nvSpPr>
          <p:cNvPr id="96" name="Text 89"/>
          <p:cNvSpPr/>
          <p:nvPr/>
        </p:nvSpPr>
        <p:spPr>
          <a:xfrm>
            <a:off x="5577840" y="4503420"/>
            <a:ext cx="9144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5-9-0</a:t>
            </a:r>
            <a:endParaRPr lang="en-US" sz="1000" dirty="0"/>
          </a:p>
        </p:txBody>
      </p:sp>
      <p:sp>
        <p:nvSpPr>
          <p:cNvPr id="97" name="Text 90"/>
          <p:cNvSpPr/>
          <p:nvPr/>
        </p:nvSpPr>
        <p:spPr>
          <a:xfrm>
            <a:off x="6583680" y="4503420"/>
            <a:ext cx="9601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1780.6</a:t>
            </a:r>
            <a:endParaRPr lang="en-US" sz="1000" dirty="0"/>
          </a:p>
        </p:txBody>
      </p:sp>
      <p:sp>
        <p:nvSpPr>
          <p:cNvPr id="98" name="Text 91"/>
          <p:cNvSpPr/>
          <p:nvPr/>
        </p:nvSpPr>
        <p:spPr>
          <a:xfrm>
            <a:off x="7635240" y="4503420"/>
            <a:ext cx="10058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1898.6</a:t>
            </a:r>
            <a:endParaRPr lang="en-US" sz="1000" dirty="0"/>
          </a:p>
        </p:txBody>
      </p:sp>
      <p:pic>
        <p:nvPicPr>
          <p:cNvPr id="99" name="Image 5" descr="/sessions/gifted-ecstatic-mccarthy/mnt/outputs/icons/po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537710"/>
            <a:ext cx="219456" cy="219456"/>
          </a:xfrm>
          <a:prstGeom prst="rect">
            <a:avLst/>
          </a:prstGeom>
        </p:spPr>
      </p:pic>
      <p:sp>
        <p:nvSpPr>
          <p:cNvPr id="100" name="Text 92"/>
          <p:cNvSpPr/>
          <p:nvPr/>
        </p:nvSpPr>
        <p:spPr>
          <a:xfrm>
            <a:off x="457200" y="4901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Medals = top 3 · crown = most points · rocket = won the losers bracket · poop = last place.    Manager TBD = The Lady Boys (FKA Jon Lewitus).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— Brian Malconian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“King Of The Castle” with a resounding back to back Championship win.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022479"/>
          </a:solidFill>
          <a:ln w="12700">
            <a:solidFill>
              <a:srgbClr val="0224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85216" y="1645920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11–3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85216" y="2267712"/>
            <a:ext cx="2350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Regular-season record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64408" y="155448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022479"/>
          </a:solidFill>
          <a:ln w="12700">
            <a:solidFill>
              <a:srgbClr val="0224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92424" y="1645920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2,430.7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3392424" y="2267712"/>
            <a:ext cx="2350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for — league high by ~450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71616" y="155448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022479"/>
          </a:solidFill>
          <a:ln w="12700">
            <a:solidFill>
              <a:srgbClr val="0224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99632" y="1645920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top 5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199632" y="2267712"/>
            <a:ext cx="23591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5 highest single-week scores all year, four were his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8229600" cy="706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only did he take home trophy but he also took the regular-season points crown with him as well. Brian started as the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Beelow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league with all of us saying “you can’t have this, you can’t have this”. Well, one day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Beelow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got this and is now the true King Of The Castle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superlatives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single-week scores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07008"/>
          <a:ext cx="6583680" cy="13716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Opponent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214.6-145.6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Scott Montgomery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206.8-125.7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203.0-155.0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199.6-166.7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199.1-104.3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1546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blowouts (top 5)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47288"/>
          <a:ext cx="6583680" cy="13716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181.9-82.2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199.1-104.3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MacNulty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182.3-87.5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Scott Montgomery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206.8-125.7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Aric Tao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180.4-99.6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individual weeks of 2025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5953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NFL opp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(for-vs)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Manager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Trevor Lawrence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NYJ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TBD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177.1-122.1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Aric Tao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Jahmyr Gibbs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NYG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184.4-187.3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Josh Allen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TB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128.7-138.7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Jonathan Taylor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ATL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203.0-155.0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Derrick Henry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 GB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143.9-167.0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Jared Goff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CHI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199.1-104.3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Josh Allen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CIN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180.5-158.0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Caleb Williams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 CIN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MacNulty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170.6-125.7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Brock Purdy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CHI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167.0-143.9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Josh Allen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BAL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147.3-168.1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monster game doesn't always mean a win — see Gibbs' 49.9 in a loss.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93392"/>
            <a:ext cx="146304" cy="146304"/>
          </a:xfrm>
          <a:prstGeom prst="ellipse">
            <a:avLst/>
          </a:prstGeom>
          <a:solidFill>
            <a:srgbClr val="E1B5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League trivia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737360"/>
            <a:ext cx="1371600" cy="1371600"/>
          </a:xfrm>
          <a:prstGeom prst="ellipse">
            <a:avLst/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146304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players were the most transacted in 2025? (Who churned them most, where they finished, total FAAB)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10312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at the end — no cheating.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737360"/>
            <a:ext cx="1371600" cy="1371600"/>
          </a:xfrm>
          <a:prstGeom prst="ellipse">
            <a:avLst/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146304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manager made the MOST moves in 2025?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10312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at the end — no cheating.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737360"/>
            <a:ext cx="1371600" cy="1371600"/>
          </a:xfrm>
          <a:prstGeom prst="ellipse">
            <a:avLst/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146304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manager made the FEWEST moves in 2025?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10312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at the end — no cheating.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737360"/>
            <a:ext cx="1371600" cy="1371600"/>
          </a:xfrm>
          <a:prstGeom prst="ellipse">
            <a:avLst/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146304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spent the most FAAB on a single player in 2025? How much, and on whom?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10312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at the end — no cheating.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737360"/>
            <a:ext cx="1371600" cy="1371600"/>
          </a:xfrm>
          <a:prstGeom prst="ellipse">
            <a:avLst/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146304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managers did NOT use all their $100 FAAB — and how much did they spend?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10312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at the end — no cheating.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737360"/>
            <a:ext cx="1371600" cy="1371600"/>
          </a:xfrm>
          <a:prstGeom prst="ellipse">
            <a:avLst/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146304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&amp; least efficient keepers — 2025 fantasy points per $ of keeper cost?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10312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at the end — no cheating.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93392"/>
            <a:ext cx="146304" cy="146304"/>
          </a:xfrm>
          <a:prstGeom prst="ellipse">
            <a:avLst/>
          </a:prstGeom>
          <a:solidFill>
            <a:srgbClr val="E1B5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Keeper pricing</a:t>
            </a:r>
            <a:endParaRPr lang="en-US" sz="4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Keeper cost by draft round</a:t>
            </a:r>
            <a:endParaRPr lang="en-US" sz="2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27432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Keeper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383280" y="1097280"/>
          <a:ext cx="274320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Keeper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400800" y="1097280"/>
            <a:ext cx="2377440" cy="3108960"/>
          </a:xfrm>
          <a:prstGeom prst="roundRect">
            <a:avLst>
              <a:gd name="adj" fmla="val 3077"/>
            </a:avLst>
          </a:prstGeom>
          <a:solidFill>
            <a:srgbClr val="F1F5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6583680" y="1234440"/>
            <a:ext cx="2057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2479"/>
                </a:solidFill>
              </a:rPr>
              <a:t>What is DRC?
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</a:rPr>
              <a:t>Draft Round Cost — the draft round you give up to keep a player.
</a:t>
            </a:r>
            <a:endParaRPr lang="en-US" sz="1400" dirty="0"/>
          </a:p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</a:rPr>
              <a:t>Lower DRC = more expensive (DRC 1 = a 1st-round pick = $200). Each year a keeper's cost rises one round, capping at round 1.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93392"/>
            <a:ext cx="146304" cy="146304"/>
          </a:xfrm>
          <a:prstGeom prst="ellipse">
            <a:avLst/>
          </a:prstGeom>
          <a:solidFill>
            <a:srgbClr val="E1B5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Keeper selection menus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Watson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$1,380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CeeDee Lamb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Jalen Hurts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Mahomes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TreVeyon Henderson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Derrick Henry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Omarion Hampton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Drake London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Travis Hunter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Kittle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Xavier Worthy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Jordan Addison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Puka Nacua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Zach Charbonnet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Jake Bates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Jerry Jeudy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Jordan Mason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Kayshon Boutte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Kyle Monangai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Jones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Michael Mayer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Quinn Ewers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Titans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Lewis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$1,100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Amon-Ra St. Brown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Bijan Robinson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Dak Prescott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Josh Jacobs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Jared Goff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Stefon Diggs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Quinshon Judkins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Tucker Kraft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Brenton Strange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Broncos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 Rodriguez Jr.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Dylan Sampson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Emanuel Wilson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Ka'imi Fairbairn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Khalil Shakir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Parker Washington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Patriots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Taysom Hill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Wan'Dale Robinson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George Mensing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$1,060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Breece Hall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James Conner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Josh Allen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DeVonta Smith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Zay Flowers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Jaylen Waddle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Thomas Jr.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Javonte Williams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Mike Evans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Montgomery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J.J. McCarthy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Colby Parkinson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Jason Myers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Juwan Johnson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Tank Bigsby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Texans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Tyjae Spears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Tyler Shough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Brian Malconian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$1,020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Ja'Marr 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Joe Burrow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Jonathan Taylor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Jaxon Smith-Njigba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Tetairoa McMillan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James Cook III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Pickens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De'Von Achane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Drake Maye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 Godwin Jr.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Trey McBride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Anthony Richardson Sr.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Brandon Aiyuk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Buccaneers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 Little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Jayden Higgins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Kaleb Johnson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Malik Willis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Tua Tagovailoa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Tyreek Hill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Woody Marks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Aric Tao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$970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Ashton Jeanty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Justin Jefferson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 Ward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Malik Nabers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Deebo Samuel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Jacory Croskey-Merritt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Brandon Aubrey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Justin Fields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Jameson Williams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Shedeur Sanders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Braelon Allen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Chimere Dike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Deshaun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Joe Milton III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Lions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Romeo Doubs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 Johnson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Tyrone Tracy Jr.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Bryce Young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Schlosberg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$870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A.J. Brown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Christian McCaffrey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Jahmyr Gibbs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Tony Pollard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Rome Odunze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C.J. Stroud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Michael Pittman Jr.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Aaron Rodgers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Jalen McMillan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Jaylen Warren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Dallas Goedert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Devin Neal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Harold Fannin Jr.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Jaguars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Jalen Coker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Ricky Pearsall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Tyler 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Jacoby Brissett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 Pearson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$810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Garrett Wilson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Justin Herbert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 Higgins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Brock Purdy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Travis Kelce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Alvin Kamara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Matthew Stafford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Chuba Hubbard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Dalton Kincaid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Quentin Johnston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Audric Estime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Blake Corum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Chase McLaughlin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Michael Wilson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Rhamondre Stevenson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Rico Dowdle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Seahawks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Tyler Allgeier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Christian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TBD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$760</a:t>
            </a:r>
            <a:endParaRPr lang="en-US" sz="1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Saquon Barkley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Trevor Lawrence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Isiah Pacheco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 Nix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Robinson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Tyler Warren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Nick Chubb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Nico Collins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Courtland Sutton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Keenan Allen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Rashee 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49ers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DeAndre Hopkins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Devin Singletary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Jake Elliott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Kyle Pitts Sr.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Saints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Tyrod Taylor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MacNulty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$710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Marvin Harrison Jr.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Caleb Williams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Travis Etienne Jr.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DK Metcalf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Jaxson Dart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Jakobi Meyers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 LaPorta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Hunter Henry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Alec Pierce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Bucky Irving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Dalton Schultz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Darius Slayton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Elic Ayomanor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Harrison Butker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Jawhar Jordan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Sean Tucker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Steelers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Tank Dell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 Hodor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$620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Lamar Jackson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Emeka Egbuka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RJ Harvey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 Skattebo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Matthew Golden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Ladd McConkey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 Darnold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Kyren Williams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Jauan Jennings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Bhayshul Tuten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Colston Loveland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Isaac TeSlaa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Jaylin Noel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Kimani Vidal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Kyle Williams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Luther Burden III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Panthers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Trey Benson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Troy Franklin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Scott Montgomery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$580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Jayden Daniels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Aaron Jones Sr.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Terry McLaurin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Brock Bowers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DJ Moore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J.K. Dobbins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Chase Brown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Baker Mayfield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Calvin Ridley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Daniel Jones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Darnell Mooney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Geno Smith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Jayden Reed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Joe Mixon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Malik Davis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Michael Carter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Oronde Gadsden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Zane Gonzalez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Vescuso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989320" y="310896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0224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099048" y="31089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CEFF"/>
                </a:solidFill>
              </a:rPr>
              <a:t>Total 2026 keeper cost  </a:t>
            </a:r>
            <a:r>
              <a:rPr lang="en-US" sz="1600" b="1" dirty="0">
                <a:solidFill>
                  <a:srgbClr val="FFFFFF"/>
                </a:solidFill>
              </a:rPr>
              <a:t>$450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Davante Adams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Kenneth Walker III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 Olave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D'Andre Swift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Jordan Love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Kyler Murray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Michael Penix Jr.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Jake Ferguson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Shaheed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Rachaad White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Kenneth Gainwell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Kirk Cousins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Marcus Mariota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 Andrews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Rams DST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 Tucker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Will Reichard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93392"/>
            <a:ext cx="146304" cy="146304"/>
          </a:xfrm>
          <a:prstGeom prst="ellipse">
            <a:avLst/>
          </a:prstGeom>
          <a:solidFill>
            <a:srgbClr val="E1B5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Keeper value vs 2-QB ADP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Steals &amp; reaches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2479"/>
                </a:solidFill>
              </a:rPr>
              <a:t>DRC</a:t>
            </a:r>
            <a:r>
              <a:rPr lang="en-US" sz="1100" dirty="0">
                <a:solidFill>
                  <a:srgbClr val="5B6573"/>
                </a:solidFill>
              </a:rPr>
              <a:t> = round you pay to keep him (lower = pricier).   </a:t>
            </a:r>
            <a:r>
              <a:rPr lang="en-US" sz="1100" b="1" dirty="0">
                <a:solidFill>
                  <a:srgbClr val="022479"/>
                </a:solidFill>
              </a:rPr>
              <a:t>ADP</a:t>
            </a:r>
            <a:r>
              <a:rPr lang="en-US" sz="1100" dirty="0">
                <a:solidFill>
                  <a:srgbClr val="5B6573"/>
                </a:solidFill>
              </a:rPr>
              <a:t> = where he's drafted (2-QB).   </a:t>
            </a:r>
            <a:r>
              <a:rPr lang="en-US" sz="1100" b="1" dirty="0">
                <a:solidFill>
                  <a:srgbClr val="022479"/>
                </a:solidFill>
              </a:rPr>
              <a:t>Δ</a:t>
            </a:r>
            <a:r>
              <a:rPr lang="en-US" sz="1100" dirty="0">
                <a:solidFill>
                  <a:srgbClr val="5B6573"/>
                </a:solidFill>
              </a:rPr>
              <a:t> = ADP round − DRC round. Negative = steal.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steals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ADP 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Puka Nacua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Tyler Shough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Scott Montgomery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Chase Brown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Trey McBride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Malik Willis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TBD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Rashee 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1B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overpriced</a:t>
            </a:r>
            <a:endParaRPr lang="en-US" sz="1200" dirty="0"/>
          </a:p>
        </p:txBody>
      </p:sp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47288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ADP 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Aric Tao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Deebo Samuel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Travis Hunter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James Conner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Aric Tao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Brandon Aubrey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Aric Tao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Justin Fields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TBD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Isiah Pacheco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93392"/>
            <a:ext cx="146304" cy="146304"/>
          </a:xfrm>
          <a:prstGeom prst="ellipse">
            <a:avLst/>
          </a:prstGeom>
          <a:solidFill>
            <a:srgbClr val="E1B5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trades in review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trades  (1/3)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= acquired players outscored since the trade · ✗ = lost the points battle · blank = player-for-pick</a:t>
            </a:r>
            <a:endParaRPr lang="en-US" sz="9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3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Bryce Young, Derrick Henry, Jordan Addison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14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De'Von Achane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Jahmyr Gibbs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27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Dalton Kincaid, Rico Dowdle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Jaxon Smith-Njigba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7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MacNulty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Marvin Harrison Jr.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 1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Shaheed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Dylan Sampson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 2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MacNulty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Russell Wilson, DK Metcalf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Scott Montgomery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Josh Jacobs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 4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Montgomery, R16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 27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Pete Hodor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Matthew Golden, R16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trades  (2/3)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= acquired players outscored since the trade · ✗ = lost the points battle · blank = player-for-pick</a:t>
            </a:r>
            <a:endParaRPr lang="en-US" sz="9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 27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Alvin Kamara, Jake Browning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Aric Tao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Malik Nabers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11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D'Andre Swift, Kenneth Walker III, R12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Omarion Hampton, RJ Harvey, R15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2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Stefon Diggs, Josh Jacobs, R17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Scott Montgomery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DJ Moore, Terry McLaurin, R7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6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CeeDee Lamb, R17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Pete Hodor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RJ Harvey, R10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7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Michael Pittman Jr., R17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14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Christian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 Johnson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14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Mahomes, R13 pick, R14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Kyler Murray, R4 pick, R7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21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Jacoby Brissett, R16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Aric Tao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Bryce Young, R13 pick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trades  (3/3)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= acquired players outscored since the trade · ✗ = lost the points battle · blank = player-for-pick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21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Joe Flacco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Tyler Shough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93392"/>
            <a:ext cx="146304" cy="146304"/>
          </a:xfrm>
          <a:prstGeom prst="ellipse">
            <a:avLst/>
          </a:prstGeom>
          <a:solidFill>
            <a:srgbClr val="E1B5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the group chat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by the numbers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talkative</a:t>
            </a:r>
            <a:endParaRPr lang="en-US" sz="13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Pete Hodor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754880" y="960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reactions received</a:t>
            </a:r>
            <a:endParaRPr lang="en-US" sz="13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Laughs/loves/likes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Pete Hodor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You, Paul, Tom and Brian are ~80% of all 7,000 messages.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93392"/>
            <a:ext cx="146304" cy="146304"/>
          </a:xfrm>
          <a:prstGeom prst="ellipse">
            <a:avLst/>
          </a:prstGeom>
          <a:solidFill>
            <a:srgbClr val="E1B5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&amp; voting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docket for 2026 — to vote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778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 from the league thread — let's settle these.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25296"/>
            <a:ext cx="8229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</a:rPr>
              <a:t>Replace Jon — pick a new manager for the open seat (The Lady Boys, now Manager TBD).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</a:rPr>
              <a:t>1.01 free-keeper loophole — ban the 1.01 holder from dropping a player in keeper selection and re-grabbing him at 1.01. Failed last year; voting again. (Hodor: opportunity cost; others want it closed.)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</a:rPr>
              <a:t>Keepers to the back of the draft (Tom) — keepers fill from the back; a pick's round only matters for cost. Replaces slide/chasm.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</a:rPr>
              <a:t>Counter-offer rule — a counter MUST include one of the original players (current rule). Given this year's confusion: keep as-is, or adjust?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</a:rPr>
              <a:t>Last-place +300 parlay — did this pass last year? Confirm or vote.   ·   Paul's pick-trading tweak — Paul to clarify, then vote.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i="1" dirty="0">
                <a:solidFill>
                  <a:srgbClr val="5B6573"/>
                </a:solidFill>
              </a:rPr>
              <a:t>Already on the books: pick chasm (“Cannobie Lake”), 6th-seed points wildcard, 10% top-points skim, no drop-and-immediately-re-add.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thoughts &amp; musings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E1B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[STARTER — replace with this year's material in your voice]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The annual State of Paul address.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Verdell watch.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We need Vesco physically present.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Proxies turn Paul into even more of a tyrant.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93392"/>
            <a:ext cx="146304" cy="146304"/>
          </a:xfrm>
          <a:prstGeom prst="ellipse">
            <a:avLst/>
          </a:prstGeom>
          <a:solidFill>
            <a:srgbClr val="E1B5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order &amp; lottery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draft lottery — non-playoff teams</a:t>
            </a:r>
            <a:endParaRPr lang="en-US" sz="27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603504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Odds at 1.01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Fear the Peel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TBD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Lady Boys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Dreorge Bledsoe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Scott Montgomery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THE TUA 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Aric Tao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Priest Gabagool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Pete Hodor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Bonita Fish Big?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097280"/>
            <a:ext cx="2103120" cy="2926080"/>
          </a:xfrm>
          <a:prstGeom prst="roundRect">
            <a:avLst>
              <a:gd name="adj" fmla="val 3478"/>
            </a:avLst>
          </a:prstGeom>
          <a:solidFill>
            <a:srgbClr val="F1F5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858000" y="1234440"/>
            <a:ext cx="1783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2479"/>
                </a:solidFill>
              </a:rPr>
              <a:t>How it works
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</a:rPr>
              <a:t>Six non-playoff teams enter the lottery for the 1.01 pick. The 2026-27 odds reward the team that just missed the cut.
</a:t>
            </a:r>
            <a:endParaRPr lang="en-US" sz="13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B6573"/>
                </a:solidFill>
              </a:rPr>
              <a:t>We'll run the live draw at the summit.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Playoff teams pick by result (champion picks last). Non-playoff order is set by the lottery.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93392"/>
            <a:ext cx="146304" cy="146304"/>
          </a:xfrm>
          <a:prstGeom prst="ellipse">
            <a:avLst/>
          </a:prstGeom>
          <a:solidFill>
            <a:srgbClr val="E1B5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7C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 answers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— Most-transacted players</a:t>
            </a:r>
            <a:endParaRPr lang="en-US" sz="27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by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Finished 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FAAB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Josh Downs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 Prater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Kayshon Boutte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 Little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Pete Hodor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Harrison Butker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MacNulty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Joshua Karty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MacNulty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Blake Corum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TBD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Christian Watson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Mason Taylor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Packers DST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Dylan Sampson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Emanuel Wilson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Harold Fannin Jr.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Pete Hodor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Isaac TeSlaa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Pete Hodor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Pete Hodor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Isaiah Likely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Pete Hodor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&amp; Q3 — Most and fewest moves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moves</a:t>
            </a:r>
            <a:endParaRPr lang="en-US" sz="13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4114800" cy="914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Pete Hodor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MacNulty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Scott Montgomery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754880" y="960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Fewest moves</a:t>
            </a:r>
            <a:endParaRPr lang="en-US" sz="1300" dirty="0"/>
          </a:p>
        </p:txBody>
      </p:sp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TBD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Aric Tao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Vescuso made the fewest adds (10) but the most trades (5).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— Biggest single FAAB bids</a:t>
            </a:r>
            <a:endParaRPr lang="en-US" sz="27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FAAB $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Aric Tao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Jake Browning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2025-09-17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Troy Franklin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2025-09-17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Brian Malconian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Marcus Mariota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2025-11-05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Kirk Cousins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2025-11-19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 Lewis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Khalil Shakir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2025-09-24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— Left FAAB on the table</a:t>
            </a:r>
            <a:endParaRPr lang="en-US" sz="27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FAAB spent (of $100)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Vescuso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TBD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 Schlosberg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MacNulty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22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 — Most &amp; least efficient keepers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3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efficient — 2025 points per $ of 2026 keeper cost</a:t>
            </a:r>
            <a:endParaRPr lang="en-US" sz="13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07008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Pts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Pts/$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Baker Mayfield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Scott Montgomery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Puka Nacua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Watson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Daniel Jones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Scott Montgomery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063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1B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efficient — priciest underperformers ($50+ keepers)</a:t>
            </a:r>
            <a:endParaRPr lang="en-US" sz="1300" dirty="0"/>
          </a:p>
        </p:txBody>
      </p:sp>
      <p:graphicFrame>
        <p:nvGraphicFramePr>
          <p:cNvPr id="9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55848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Pts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Pts/$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2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James Conner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George Mensing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Garrett Wilson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Greg Pearson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Malik Nabers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Aric Tao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1F5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3575</Words>
  <Application>Microsoft Office PowerPoint</Application>
  <PresentationFormat>On-screen Show (16:9)</PresentationFormat>
  <Paragraphs>1673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 Yearn For Your Sweet TD's — Beach Summit 2026</dc:title>
  <dc:subject>PptxGenJS Presentation</dc:subject>
  <dc:creator>Pete Hodor</dc:creator>
  <cp:lastModifiedBy>Peter Hodor</cp:lastModifiedBy>
  <cp:revision>2</cp:revision>
  <dcterms:created xsi:type="dcterms:W3CDTF">2026-06-23T23:14:14Z</dcterms:created>
  <dcterms:modified xsi:type="dcterms:W3CDTF">2026-06-23T23:19:41Z</dcterms:modified>
</cp:coreProperties>
</file>